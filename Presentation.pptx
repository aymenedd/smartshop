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1" r:id="rId4"/>
    <p:sldId id="282" r:id="rId5"/>
    <p:sldId id="260" r:id="rId6"/>
    <p:sldId id="261" r:id="rId7"/>
    <p:sldId id="277" r:id="rId8"/>
    <p:sldId id="278" r:id="rId9"/>
    <p:sldId id="279" r:id="rId10"/>
    <p:sldId id="264" r:id="rId11"/>
    <p:sldId id="265" r:id="rId12"/>
    <p:sldId id="266" r:id="rId13"/>
    <p:sldId id="267" r:id="rId14"/>
    <p:sldId id="275" r:id="rId15"/>
    <p:sldId id="269" r:id="rId16"/>
    <p:sldId id="270" r:id="rId17"/>
    <p:sldId id="276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8E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68E9F4-538D-45B6-B660-8AEB166C6BD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B8ABB7-412C-4903-8A48-FB9C0FA2C386}">
      <dgm:prSet/>
      <dgm:spPr/>
      <dgm:t>
        <a:bodyPr/>
        <a:lstStyle/>
        <a:p>
          <a:r>
            <a:rPr lang="fr-FR"/>
            <a:t>Le secteur de l’e-commerce évolue rapidement grâce à l’intégration de l’intelligence artificielle et des applications mobiles intelligentes.</a:t>
          </a:r>
          <a:endParaRPr lang="en-US"/>
        </a:p>
      </dgm:t>
    </dgm:pt>
    <dgm:pt modelId="{F7DF2DD9-C7D0-463B-B856-800300942403}" type="parTrans" cxnId="{19FBD17C-508D-4F38-94DA-68E084CE2C80}">
      <dgm:prSet/>
      <dgm:spPr/>
      <dgm:t>
        <a:bodyPr/>
        <a:lstStyle/>
        <a:p>
          <a:endParaRPr lang="en-US"/>
        </a:p>
      </dgm:t>
    </dgm:pt>
    <dgm:pt modelId="{457FD3F4-8EEF-4161-A091-7151F95E2007}" type="sibTrans" cxnId="{19FBD17C-508D-4F38-94DA-68E084CE2C80}">
      <dgm:prSet/>
      <dgm:spPr/>
      <dgm:t>
        <a:bodyPr/>
        <a:lstStyle/>
        <a:p>
          <a:endParaRPr lang="en-US"/>
        </a:p>
      </dgm:t>
    </dgm:pt>
    <dgm:pt modelId="{E9E1AF27-F8AF-4966-9970-AC7303100310}">
      <dgm:prSet/>
      <dgm:spPr/>
      <dgm:t>
        <a:bodyPr/>
        <a:lstStyle/>
        <a:p>
          <a:r>
            <a:rPr lang="fr-FR"/>
            <a:t>Les plateformes modernes ne se limitent plus à la simple vente en ligne, mais offrent une expérience utilisateur personnalisée, interactive et intelligente grâce à des systèmes de recommandation et des assistants virtuels.</a:t>
          </a:r>
          <a:endParaRPr lang="en-US"/>
        </a:p>
      </dgm:t>
    </dgm:pt>
    <dgm:pt modelId="{33BF3C9F-1BF7-4653-AF01-9D4D803E6DF7}" type="parTrans" cxnId="{9D15C036-4204-4052-B5A2-41677694316B}">
      <dgm:prSet/>
      <dgm:spPr/>
      <dgm:t>
        <a:bodyPr/>
        <a:lstStyle/>
        <a:p>
          <a:endParaRPr lang="en-US"/>
        </a:p>
      </dgm:t>
    </dgm:pt>
    <dgm:pt modelId="{12C850AF-5FAC-4FE5-85E1-0EA7BAC72F0F}" type="sibTrans" cxnId="{9D15C036-4204-4052-B5A2-41677694316B}">
      <dgm:prSet/>
      <dgm:spPr/>
      <dgm:t>
        <a:bodyPr/>
        <a:lstStyle/>
        <a:p>
          <a:endParaRPr lang="en-US"/>
        </a:p>
      </dgm:t>
    </dgm:pt>
    <dgm:pt modelId="{4CD45003-A6D3-4361-8DB4-7C10B1EBB9CB}">
      <dgm:prSet/>
      <dgm:spPr/>
      <dgm:t>
        <a:bodyPr/>
        <a:lstStyle/>
        <a:p>
          <a:r>
            <a:rPr lang="fr-FR" dirty="0"/>
            <a:t>Avec l’augmentation massive de l’utilisation des smartphones, le mobile devient le principal canal d’achat et d’interaction client.</a:t>
          </a:r>
          <a:endParaRPr lang="en-US" dirty="0"/>
        </a:p>
      </dgm:t>
    </dgm:pt>
    <dgm:pt modelId="{1E582C85-97ED-4EDD-A937-6197D75C1AD1}" type="parTrans" cxnId="{3E57A961-84E0-45E0-ABF0-49326EDBFA9B}">
      <dgm:prSet/>
      <dgm:spPr/>
      <dgm:t>
        <a:bodyPr/>
        <a:lstStyle/>
        <a:p>
          <a:endParaRPr lang="en-US"/>
        </a:p>
      </dgm:t>
    </dgm:pt>
    <dgm:pt modelId="{89EA1085-B3DB-4E17-86EC-B892255F11DC}" type="sibTrans" cxnId="{3E57A961-84E0-45E0-ABF0-49326EDBFA9B}">
      <dgm:prSet/>
      <dgm:spPr/>
      <dgm:t>
        <a:bodyPr/>
        <a:lstStyle/>
        <a:p>
          <a:endParaRPr lang="en-US"/>
        </a:p>
      </dgm:t>
    </dgm:pt>
    <dgm:pt modelId="{30855BB3-BEEE-4BCF-95A8-B45DAAC7A7F6}">
      <dgm:prSet/>
      <dgm:spPr/>
      <dgm:t>
        <a:bodyPr/>
        <a:lstStyle/>
        <a:p>
          <a:r>
            <a:rPr lang="fr-FR" b="1"/>
            <a:t>Tendances clés :</a:t>
          </a:r>
          <a:endParaRPr lang="en-US"/>
        </a:p>
      </dgm:t>
    </dgm:pt>
    <dgm:pt modelId="{2184FF80-6035-4FCF-B6C6-20E8A0943E78}" type="parTrans" cxnId="{73F93C90-8754-41C7-AFD6-79D1B7F0D961}">
      <dgm:prSet/>
      <dgm:spPr/>
      <dgm:t>
        <a:bodyPr/>
        <a:lstStyle/>
        <a:p>
          <a:endParaRPr lang="en-US"/>
        </a:p>
      </dgm:t>
    </dgm:pt>
    <dgm:pt modelId="{FDDC61F2-61E7-4D3A-8885-2D100EBF05F8}" type="sibTrans" cxnId="{73F93C90-8754-41C7-AFD6-79D1B7F0D961}">
      <dgm:prSet/>
      <dgm:spPr/>
      <dgm:t>
        <a:bodyPr/>
        <a:lstStyle/>
        <a:p>
          <a:endParaRPr lang="en-US"/>
        </a:p>
      </dgm:t>
    </dgm:pt>
    <dgm:pt modelId="{0429274F-5687-4C87-80FC-260B383DFAAC}">
      <dgm:prSet/>
      <dgm:spPr/>
      <dgm:t>
        <a:bodyPr/>
        <a:lstStyle/>
        <a:p>
          <a:r>
            <a:rPr lang="fr-FR"/>
            <a:t>Recommandations personnalisées basées sur l’IA</a:t>
          </a:r>
          <a:endParaRPr lang="en-US"/>
        </a:p>
      </dgm:t>
    </dgm:pt>
    <dgm:pt modelId="{5E0FCEDE-C0CE-49DB-901D-7923D89C1917}" type="parTrans" cxnId="{A4DBF960-9BF5-430E-BC02-0C43C8618136}">
      <dgm:prSet/>
      <dgm:spPr/>
      <dgm:t>
        <a:bodyPr/>
        <a:lstStyle/>
        <a:p>
          <a:endParaRPr lang="en-US"/>
        </a:p>
      </dgm:t>
    </dgm:pt>
    <dgm:pt modelId="{015FBF2B-5BC3-4059-9673-840C9D5CCFBE}" type="sibTrans" cxnId="{A4DBF960-9BF5-430E-BC02-0C43C8618136}">
      <dgm:prSet/>
      <dgm:spPr/>
      <dgm:t>
        <a:bodyPr/>
        <a:lstStyle/>
        <a:p>
          <a:endParaRPr lang="en-US"/>
        </a:p>
      </dgm:t>
    </dgm:pt>
    <dgm:pt modelId="{B5B59C7C-379C-4ABE-A554-FC03BD9FD993}">
      <dgm:prSet/>
      <dgm:spPr/>
      <dgm:t>
        <a:bodyPr/>
        <a:lstStyle/>
        <a:p>
          <a:r>
            <a:rPr lang="fr-FR"/>
            <a:t>Utilisation de chatbots et de systèmes de recommandation</a:t>
          </a:r>
          <a:endParaRPr lang="en-US"/>
        </a:p>
      </dgm:t>
    </dgm:pt>
    <dgm:pt modelId="{D88E3A14-2D12-414C-9ACE-920BE57EDD4F}" type="parTrans" cxnId="{D03C4DCC-9902-40D8-B7E2-D0DB600EF53B}">
      <dgm:prSet/>
      <dgm:spPr/>
      <dgm:t>
        <a:bodyPr/>
        <a:lstStyle/>
        <a:p>
          <a:endParaRPr lang="en-US"/>
        </a:p>
      </dgm:t>
    </dgm:pt>
    <dgm:pt modelId="{78B608A9-37F5-4659-9770-4699F8412EA9}" type="sibTrans" cxnId="{D03C4DCC-9902-40D8-B7E2-D0DB600EF53B}">
      <dgm:prSet/>
      <dgm:spPr/>
      <dgm:t>
        <a:bodyPr/>
        <a:lstStyle/>
        <a:p>
          <a:endParaRPr lang="en-US"/>
        </a:p>
      </dgm:t>
    </dgm:pt>
    <dgm:pt modelId="{EB8E568D-86AC-4D28-93D3-2B52A99B256F}">
      <dgm:prSet/>
      <dgm:spPr/>
      <dgm:t>
        <a:bodyPr/>
        <a:lstStyle/>
        <a:p>
          <a:r>
            <a:rPr lang="fr-FR"/>
            <a:t>Recherche intelligente et sémantique de produits</a:t>
          </a:r>
          <a:endParaRPr lang="en-US"/>
        </a:p>
      </dgm:t>
    </dgm:pt>
    <dgm:pt modelId="{6EBE0702-2110-4FDA-B047-F5902C942A74}" type="parTrans" cxnId="{DD0CDA33-ABA9-4465-B793-A821B488B16E}">
      <dgm:prSet/>
      <dgm:spPr/>
      <dgm:t>
        <a:bodyPr/>
        <a:lstStyle/>
        <a:p>
          <a:endParaRPr lang="en-US"/>
        </a:p>
      </dgm:t>
    </dgm:pt>
    <dgm:pt modelId="{7C5A925E-6050-4897-A5BD-F7968E7802B3}" type="sibTrans" cxnId="{DD0CDA33-ABA9-4465-B793-A821B488B16E}">
      <dgm:prSet/>
      <dgm:spPr/>
      <dgm:t>
        <a:bodyPr/>
        <a:lstStyle/>
        <a:p>
          <a:endParaRPr lang="en-US"/>
        </a:p>
      </dgm:t>
    </dgm:pt>
    <dgm:pt modelId="{BD95033F-5D15-46BA-B56F-CA4F915B0FA3}">
      <dgm:prSet/>
      <dgm:spPr/>
      <dgm:t>
        <a:bodyPr/>
        <a:lstStyle/>
        <a:p>
          <a:r>
            <a:rPr lang="fr-FR"/>
            <a:t>Gestion automatisée des commandes et du panier</a:t>
          </a:r>
          <a:endParaRPr lang="en-US"/>
        </a:p>
      </dgm:t>
    </dgm:pt>
    <dgm:pt modelId="{D4D38C6B-C698-4238-B9A0-3FD570D40031}" type="parTrans" cxnId="{767E8FCC-5A58-41A2-9EB8-AFCF454F5775}">
      <dgm:prSet/>
      <dgm:spPr/>
      <dgm:t>
        <a:bodyPr/>
        <a:lstStyle/>
        <a:p>
          <a:endParaRPr lang="en-US"/>
        </a:p>
      </dgm:t>
    </dgm:pt>
    <dgm:pt modelId="{5A78F640-6A68-4482-BFFB-560E1514AFD9}" type="sibTrans" cxnId="{767E8FCC-5A58-41A2-9EB8-AFCF454F5775}">
      <dgm:prSet/>
      <dgm:spPr/>
      <dgm:t>
        <a:bodyPr/>
        <a:lstStyle/>
        <a:p>
          <a:endParaRPr lang="en-US"/>
        </a:p>
      </dgm:t>
    </dgm:pt>
    <dgm:pt modelId="{F64C4458-774F-452E-8372-553235330FEC}" type="pres">
      <dgm:prSet presAssocID="{0168E9F4-538D-45B6-B660-8AEB166C6BDF}" presName="linear" presStyleCnt="0">
        <dgm:presLayoutVars>
          <dgm:animLvl val="lvl"/>
          <dgm:resizeHandles val="exact"/>
        </dgm:presLayoutVars>
      </dgm:prSet>
      <dgm:spPr/>
    </dgm:pt>
    <dgm:pt modelId="{AC25A714-C5BE-40CE-81E3-DFCFB14BB5B0}" type="pres">
      <dgm:prSet presAssocID="{20B8ABB7-412C-4903-8A48-FB9C0FA2C3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958150-39FF-460C-A026-7F0C0288E238}" type="pres">
      <dgm:prSet presAssocID="{457FD3F4-8EEF-4161-A091-7151F95E2007}" presName="spacer" presStyleCnt="0"/>
      <dgm:spPr/>
    </dgm:pt>
    <dgm:pt modelId="{771B1B5C-C820-44B1-A59F-F8A6E34AF316}" type="pres">
      <dgm:prSet presAssocID="{E9E1AF27-F8AF-4966-9970-AC730310031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E5A7D3C-ECA3-49F5-A804-D9B934CD155D}" type="pres">
      <dgm:prSet presAssocID="{12C850AF-5FAC-4FE5-85E1-0EA7BAC72F0F}" presName="spacer" presStyleCnt="0"/>
      <dgm:spPr/>
    </dgm:pt>
    <dgm:pt modelId="{76A43C40-DDE3-4900-A48C-4EBA9E01862D}" type="pres">
      <dgm:prSet presAssocID="{4CD45003-A6D3-4361-8DB4-7C10B1EBB9C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396D99-7938-4A48-8B0B-9394024AFF1F}" type="pres">
      <dgm:prSet presAssocID="{89EA1085-B3DB-4E17-86EC-B892255F11DC}" presName="spacer" presStyleCnt="0"/>
      <dgm:spPr/>
    </dgm:pt>
    <dgm:pt modelId="{437E7661-6818-4553-8BED-7F19BC99269A}" type="pres">
      <dgm:prSet presAssocID="{30855BB3-BEEE-4BCF-95A8-B45DAAC7A7F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CA6A3B8-D024-4A35-8732-BBF08FD49872}" type="pres">
      <dgm:prSet presAssocID="{30855BB3-BEEE-4BCF-95A8-B45DAAC7A7F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9CA640A-0A54-416B-A37D-EA8C49C76FEE}" type="presOf" srcId="{30855BB3-BEEE-4BCF-95A8-B45DAAC7A7F6}" destId="{437E7661-6818-4553-8BED-7F19BC99269A}" srcOrd="0" destOrd="0" presId="urn:microsoft.com/office/officeart/2005/8/layout/vList2"/>
    <dgm:cxn modelId="{6CBBA41B-B62B-4A72-844F-AEBB92AE6D8F}" type="presOf" srcId="{E9E1AF27-F8AF-4966-9970-AC7303100310}" destId="{771B1B5C-C820-44B1-A59F-F8A6E34AF316}" srcOrd="0" destOrd="0" presId="urn:microsoft.com/office/officeart/2005/8/layout/vList2"/>
    <dgm:cxn modelId="{2030292B-51BB-4DAA-A4D1-8B868F994A38}" type="presOf" srcId="{EB8E568D-86AC-4D28-93D3-2B52A99B256F}" destId="{2CA6A3B8-D024-4A35-8732-BBF08FD49872}" srcOrd="0" destOrd="2" presId="urn:microsoft.com/office/officeart/2005/8/layout/vList2"/>
    <dgm:cxn modelId="{DD0CDA33-ABA9-4465-B793-A821B488B16E}" srcId="{30855BB3-BEEE-4BCF-95A8-B45DAAC7A7F6}" destId="{EB8E568D-86AC-4D28-93D3-2B52A99B256F}" srcOrd="2" destOrd="0" parTransId="{6EBE0702-2110-4FDA-B047-F5902C942A74}" sibTransId="{7C5A925E-6050-4897-A5BD-F7968E7802B3}"/>
    <dgm:cxn modelId="{9D15C036-4204-4052-B5A2-41677694316B}" srcId="{0168E9F4-538D-45B6-B660-8AEB166C6BDF}" destId="{E9E1AF27-F8AF-4966-9970-AC7303100310}" srcOrd="1" destOrd="0" parTransId="{33BF3C9F-1BF7-4653-AF01-9D4D803E6DF7}" sibTransId="{12C850AF-5FAC-4FE5-85E1-0EA7BAC72F0F}"/>
    <dgm:cxn modelId="{A4DBF960-9BF5-430E-BC02-0C43C8618136}" srcId="{30855BB3-BEEE-4BCF-95A8-B45DAAC7A7F6}" destId="{0429274F-5687-4C87-80FC-260B383DFAAC}" srcOrd="0" destOrd="0" parTransId="{5E0FCEDE-C0CE-49DB-901D-7923D89C1917}" sibTransId="{015FBF2B-5BC3-4059-9673-840C9D5CCFBE}"/>
    <dgm:cxn modelId="{3E57A961-84E0-45E0-ABF0-49326EDBFA9B}" srcId="{0168E9F4-538D-45B6-B660-8AEB166C6BDF}" destId="{4CD45003-A6D3-4361-8DB4-7C10B1EBB9CB}" srcOrd="2" destOrd="0" parTransId="{1E582C85-97ED-4EDD-A937-6197D75C1AD1}" sibTransId="{89EA1085-B3DB-4E17-86EC-B892255F11DC}"/>
    <dgm:cxn modelId="{8A16844F-3F3B-43B5-B35E-6BEB0AEF7800}" type="presOf" srcId="{0429274F-5687-4C87-80FC-260B383DFAAC}" destId="{2CA6A3B8-D024-4A35-8732-BBF08FD49872}" srcOrd="0" destOrd="0" presId="urn:microsoft.com/office/officeart/2005/8/layout/vList2"/>
    <dgm:cxn modelId="{894E0C7A-1D72-4DD8-9451-A781B91B53F3}" type="presOf" srcId="{BD95033F-5D15-46BA-B56F-CA4F915B0FA3}" destId="{2CA6A3B8-D024-4A35-8732-BBF08FD49872}" srcOrd="0" destOrd="3" presId="urn:microsoft.com/office/officeart/2005/8/layout/vList2"/>
    <dgm:cxn modelId="{EF6CA97B-5DDB-4069-A218-073595896124}" type="presOf" srcId="{20B8ABB7-412C-4903-8A48-FB9C0FA2C386}" destId="{AC25A714-C5BE-40CE-81E3-DFCFB14BB5B0}" srcOrd="0" destOrd="0" presId="urn:microsoft.com/office/officeart/2005/8/layout/vList2"/>
    <dgm:cxn modelId="{19FBD17C-508D-4F38-94DA-68E084CE2C80}" srcId="{0168E9F4-538D-45B6-B660-8AEB166C6BDF}" destId="{20B8ABB7-412C-4903-8A48-FB9C0FA2C386}" srcOrd="0" destOrd="0" parTransId="{F7DF2DD9-C7D0-463B-B856-800300942403}" sibTransId="{457FD3F4-8EEF-4161-A091-7151F95E2007}"/>
    <dgm:cxn modelId="{C2779C7E-FEF4-4D0A-A6E2-C2A886ACA6B4}" type="presOf" srcId="{0168E9F4-538D-45B6-B660-8AEB166C6BDF}" destId="{F64C4458-774F-452E-8372-553235330FEC}" srcOrd="0" destOrd="0" presId="urn:microsoft.com/office/officeart/2005/8/layout/vList2"/>
    <dgm:cxn modelId="{73F93C90-8754-41C7-AFD6-79D1B7F0D961}" srcId="{0168E9F4-538D-45B6-B660-8AEB166C6BDF}" destId="{30855BB3-BEEE-4BCF-95A8-B45DAAC7A7F6}" srcOrd="3" destOrd="0" parTransId="{2184FF80-6035-4FCF-B6C6-20E8A0943E78}" sibTransId="{FDDC61F2-61E7-4D3A-8885-2D100EBF05F8}"/>
    <dgm:cxn modelId="{0489569D-805D-4AC4-A55F-244818930265}" type="presOf" srcId="{B5B59C7C-379C-4ABE-A554-FC03BD9FD993}" destId="{2CA6A3B8-D024-4A35-8732-BBF08FD49872}" srcOrd="0" destOrd="1" presId="urn:microsoft.com/office/officeart/2005/8/layout/vList2"/>
    <dgm:cxn modelId="{1E0ED0AB-50B8-4042-A5AC-C5DF3BE84AC4}" type="presOf" srcId="{4CD45003-A6D3-4361-8DB4-7C10B1EBB9CB}" destId="{76A43C40-DDE3-4900-A48C-4EBA9E01862D}" srcOrd="0" destOrd="0" presId="urn:microsoft.com/office/officeart/2005/8/layout/vList2"/>
    <dgm:cxn modelId="{D03C4DCC-9902-40D8-B7E2-D0DB600EF53B}" srcId="{30855BB3-BEEE-4BCF-95A8-B45DAAC7A7F6}" destId="{B5B59C7C-379C-4ABE-A554-FC03BD9FD993}" srcOrd="1" destOrd="0" parTransId="{D88E3A14-2D12-414C-9ACE-920BE57EDD4F}" sibTransId="{78B608A9-37F5-4659-9770-4699F8412EA9}"/>
    <dgm:cxn modelId="{767E8FCC-5A58-41A2-9EB8-AFCF454F5775}" srcId="{30855BB3-BEEE-4BCF-95A8-B45DAAC7A7F6}" destId="{BD95033F-5D15-46BA-B56F-CA4F915B0FA3}" srcOrd="3" destOrd="0" parTransId="{D4D38C6B-C698-4238-B9A0-3FD570D40031}" sibTransId="{5A78F640-6A68-4482-BFFB-560E1514AFD9}"/>
    <dgm:cxn modelId="{5A368189-E0A3-4745-9FD9-06949C43A879}" type="presParOf" srcId="{F64C4458-774F-452E-8372-553235330FEC}" destId="{AC25A714-C5BE-40CE-81E3-DFCFB14BB5B0}" srcOrd="0" destOrd="0" presId="urn:microsoft.com/office/officeart/2005/8/layout/vList2"/>
    <dgm:cxn modelId="{3E0B1848-89A9-4C7E-9824-B983F7B82D70}" type="presParOf" srcId="{F64C4458-774F-452E-8372-553235330FEC}" destId="{16958150-39FF-460C-A026-7F0C0288E238}" srcOrd="1" destOrd="0" presId="urn:microsoft.com/office/officeart/2005/8/layout/vList2"/>
    <dgm:cxn modelId="{F5B9232E-8F9C-4561-BB9B-79E2DE0A51DB}" type="presParOf" srcId="{F64C4458-774F-452E-8372-553235330FEC}" destId="{771B1B5C-C820-44B1-A59F-F8A6E34AF316}" srcOrd="2" destOrd="0" presId="urn:microsoft.com/office/officeart/2005/8/layout/vList2"/>
    <dgm:cxn modelId="{605BE864-91D8-4426-ADC3-2926F6CE6A28}" type="presParOf" srcId="{F64C4458-774F-452E-8372-553235330FEC}" destId="{DE5A7D3C-ECA3-49F5-A804-D9B934CD155D}" srcOrd="3" destOrd="0" presId="urn:microsoft.com/office/officeart/2005/8/layout/vList2"/>
    <dgm:cxn modelId="{8A72E0ED-3FCA-470D-ACCE-BC712489CEB5}" type="presParOf" srcId="{F64C4458-774F-452E-8372-553235330FEC}" destId="{76A43C40-DDE3-4900-A48C-4EBA9E01862D}" srcOrd="4" destOrd="0" presId="urn:microsoft.com/office/officeart/2005/8/layout/vList2"/>
    <dgm:cxn modelId="{B7A0EF5E-46B4-433C-8797-844A067C0060}" type="presParOf" srcId="{F64C4458-774F-452E-8372-553235330FEC}" destId="{8F396D99-7938-4A48-8B0B-9394024AFF1F}" srcOrd="5" destOrd="0" presId="urn:microsoft.com/office/officeart/2005/8/layout/vList2"/>
    <dgm:cxn modelId="{AE3F8A18-E9DC-4887-B479-541A1ED3C718}" type="presParOf" srcId="{F64C4458-774F-452E-8372-553235330FEC}" destId="{437E7661-6818-4553-8BED-7F19BC99269A}" srcOrd="6" destOrd="0" presId="urn:microsoft.com/office/officeart/2005/8/layout/vList2"/>
    <dgm:cxn modelId="{6B4160B8-99F6-48BC-94D4-A19F36FA072F}" type="presParOf" srcId="{F64C4458-774F-452E-8372-553235330FEC}" destId="{2CA6A3B8-D024-4A35-8732-BBF08FD4987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C86C38-794B-4218-88B3-F1842EDC9FB8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F11887F-6B37-49B1-92C9-FD3BEE36DE43}">
      <dgm:prSet/>
      <dgm:spPr/>
      <dgm:t>
        <a:bodyPr/>
        <a:lstStyle/>
        <a:p>
          <a:r>
            <a:rPr lang="fr-FR" b="1"/>
            <a:t>Besoins fonctionnels</a:t>
          </a:r>
          <a:endParaRPr lang="en-US"/>
        </a:p>
      </dgm:t>
    </dgm:pt>
    <dgm:pt modelId="{1BC35A7C-2ED2-4DD5-9A3B-27866FFE6542}" type="parTrans" cxnId="{B86C6F2A-BE6A-45F0-98F7-C9D11AAFE88E}">
      <dgm:prSet/>
      <dgm:spPr/>
      <dgm:t>
        <a:bodyPr/>
        <a:lstStyle/>
        <a:p>
          <a:endParaRPr lang="en-US"/>
        </a:p>
      </dgm:t>
    </dgm:pt>
    <dgm:pt modelId="{1B6687C8-089B-48C9-8765-3EE5CA54CF93}" type="sibTrans" cxnId="{B86C6F2A-BE6A-45F0-98F7-C9D11AAFE88E}">
      <dgm:prSet/>
      <dgm:spPr/>
      <dgm:t>
        <a:bodyPr/>
        <a:lstStyle/>
        <a:p>
          <a:endParaRPr lang="en-US"/>
        </a:p>
      </dgm:t>
    </dgm:pt>
    <dgm:pt modelId="{77BED97F-37E1-4D0D-9057-682A959AB236}">
      <dgm:prSet/>
      <dgm:spPr/>
      <dgm:t>
        <a:bodyPr/>
        <a:lstStyle/>
        <a:p>
          <a:r>
            <a:rPr lang="fr-FR"/>
            <a:t>Gestion utilisateurs, chat intelligent, Search Ai, Camera Scan, système RAG</a:t>
          </a:r>
          <a:endParaRPr lang="en-US"/>
        </a:p>
      </dgm:t>
    </dgm:pt>
    <dgm:pt modelId="{CD52EFBE-1D0C-45A7-A497-0D69C793B6FA}" type="parTrans" cxnId="{94C29CAC-9348-4F5F-88CA-3068981BA1A1}">
      <dgm:prSet/>
      <dgm:spPr/>
      <dgm:t>
        <a:bodyPr/>
        <a:lstStyle/>
        <a:p>
          <a:endParaRPr lang="en-US"/>
        </a:p>
      </dgm:t>
    </dgm:pt>
    <dgm:pt modelId="{1D159B79-7B89-4F03-86B8-E1458FE7C46E}" type="sibTrans" cxnId="{94C29CAC-9348-4F5F-88CA-3068981BA1A1}">
      <dgm:prSet/>
      <dgm:spPr/>
      <dgm:t>
        <a:bodyPr/>
        <a:lstStyle/>
        <a:p>
          <a:endParaRPr lang="en-US"/>
        </a:p>
      </dgm:t>
    </dgm:pt>
    <dgm:pt modelId="{FD294C06-3285-4909-8F57-AADF51BB6F8A}">
      <dgm:prSet/>
      <dgm:spPr/>
      <dgm:t>
        <a:bodyPr/>
        <a:lstStyle/>
        <a:p>
          <a:r>
            <a:rPr lang="fr-FR" b="1"/>
            <a:t>Besoins non-fonctionnels clés</a:t>
          </a:r>
          <a:endParaRPr lang="en-US"/>
        </a:p>
      </dgm:t>
    </dgm:pt>
    <dgm:pt modelId="{20351D52-B6CD-4571-BEEE-39CF596D0FC3}" type="parTrans" cxnId="{E98D4BF1-D3D6-4006-9E69-296EC42C850F}">
      <dgm:prSet/>
      <dgm:spPr/>
      <dgm:t>
        <a:bodyPr/>
        <a:lstStyle/>
        <a:p>
          <a:endParaRPr lang="en-US"/>
        </a:p>
      </dgm:t>
    </dgm:pt>
    <dgm:pt modelId="{743698BF-972F-4559-A577-4318A0153F64}" type="sibTrans" cxnId="{E98D4BF1-D3D6-4006-9E69-296EC42C850F}">
      <dgm:prSet/>
      <dgm:spPr/>
      <dgm:t>
        <a:bodyPr/>
        <a:lstStyle/>
        <a:p>
          <a:endParaRPr lang="en-US"/>
        </a:p>
      </dgm:t>
    </dgm:pt>
    <dgm:pt modelId="{3871634F-B521-4215-9769-1D2EE06DF5F6}">
      <dgm:prSet/>
      <dgm:spPr/>
      <dgm:t>
        <a:bodyPr/>
        <a:lstStyle/>
        <a:p>
          <a:r>
            <a:rPr lang="fr-FR"/>
            <a:t>Performance &lt; 2s, Sécurité JWT+HTTPS, Disponibilité 99.5%, Scalabilité 10k+ utilisateurs</a:t>
          </a:r>
          <a:endParaRPr lang="en-US"/>
        </a:p>
      </dgm:t>
    </dgm:pt>
    <dgm:pt modelId="{318A3CA5-BF78-4BD5-8254-4E8C95BDAA24}" type="parTrans" cxnId="{510EFFCA-6A98-4BB3-8AA3-789955C43EBD}">
      <dgm:prSet/>
      <dgm:spPr/>
      <dgm:t>
        <a:bodyPr/>
        <a:lstStyle/>
        <a:p>
          <a:endParaRPr lang="en-US"/>
        </a:p>
      </dgm:t>
    </dgm:pt>
    <dgm:pt modelId="{25F9AE26-6E0B-4003-9A20-45C85B076376}" type="sibTrans" cxnId="{510EFFCA-6A98-4BB3-8AA3-789955C43EBD}">
      <dgm:prSet/>
      <dgm:spPr/>
      <dgm:t>
        <a:bodyPr/>
        <a:lstStyle/>
        <a:p>
          <a:endParaRPr lang="en-US"/>
        </a:p>
      </dgm:t>
    </dgm:pt>
    <dgm:pt modelId="{CFE6A0A8-4F5D-48EB-8A18-815B8A0F2C90}">
      <dgm:prSet/>
      <dgm:spPr/>
      <dgm:t>
        <a:bodyPr/>
        <a:lstStyle/>
        <a:p>
          <a:r>
            <a:rPr lang="fr-FR" b="1"/>
            <a:t>Règles de gestion</a:t>
          </a:r>
          <a:endParaRPr lang="en-US"/>
        </a:p>
      </dgm:t>
    </dgm:pt>
    <dgm:pt modelId="{D076E83E-48A9-4C29-9183-A3EA320FEC47}" type="parTrans" cxnId="{B57C5B3C-2A88-4178-9194-AD7AD80517A7}">
      <dgm:prSet/>
      <dgm:spPr/>
      <dgm:t>
        <a:bodyPr/>
        <a:lstStyle/>
        <a:p>
          <a:endParaRPr lang="en-US"/>
        </a:p>
      </dgm:t>
    </dgm:pt>
    <dgm:pt modelId="{3D7F867C-2C3D-4891-B946-A47DBC39A32B}" type="sibTrans" cxnId="{B57C5B3C-2A88-4178-9194-AD7AD80517A7}">
      <dgm:prSet/>
      <dgm:spPr/>
      <dgm:t>
        <a:bodyPr/>
        <a:lstStyle/>
        <a:p>
          <a:endParaRPr lang="en-US"/>
        </a:p>
      </dgm:t>
    </dgm:pt>
    <dgm:pt modelId="{BFFB0265-488B-4826-BEDB-C6EF4962E520}">
      <dgm:prSet/>
      <dgm:spPr/>
      <dgm:t>
        <a:bodyPr/>
        <a:lstStyle/>
        <a:p>
          <a:r>
            <a:rPr lang="fr-FR"/>
            <a:t>Token JWT valide 24h, difficulté adaptative des quiz, limitations (100 messages/jour)</a:t>
          </a:r>
          <a:endParaRPr lang="en-US"/>
        </a:p>
      </dgm:t>
    </dgm:pt>
    <dgm:pt modelId="{3F3397E1-F9C3-4E95-9B79-921F82FBFEF1}" type="parTrans" cxnId="{87C2B6A9-4E8A-4086-84C3-E75DE01D9133}">
      <dgm:prSet/>
      <dgm:spPr/>
      <dgm:t>
        <a:bodyPr/>
        <a:lstStyle/>
        <a:p>
          <a:endParaRPr lang="en-US"/>
        </a:p>
      </dgm:t>
    </dgm:pt>
    <dgm:pt modelId="{F312EE3A-DFA1-461D-9F7D-57B9BA429733}" type="sibTrans" cxnId="{87C2B6A9-4E8A-4086-84C3-E75DE01D9133}">
      <dgm:prSet/>
      <dgm:spPr/>
      <dgm:t>
        <a:bodyPr/>
        <a:lstStyle/>
        <a:p>
          <a:endParaRPr lang="en-US"/>
        </a:p>
      </dgm:t>
    </dgm:pt>
    <dgm:pt modelId="{60C7EFB0-BBC0-4481-BD75-DFBC19F2C2A0}">
      <dgm:prSet/>
      <dgm:spPr/>
      <dgm:t>
        <a:bodyPr/>
        <a:lstStyle/>
        <a:p>
          <a:r>
            <a:rPr lang="fr-FR" b="1"/>
            <a:t>Diagrammes UML</a:t>
          </a:r>
          <a:endParaRPr lang="en-US"/>
        </a:p>
      </dgm:t>
    </dgm:pt>
    <dgm:pt modelId="{5CF9B9B0-6BF8-40DE-9C05-A2EDB142183A}" type="parTrans" cxnId="{15E0C465-5284-46A2-B0BA-67E0C655271F}">
      <dgm:prSet/>
      <dgm:spPr/>
      <dgm:t>
        <a:bodyPr/>
        <a:lstStyle/>
        <a:p>
          <a:endParaRPr lang="en-US"/>
        </a:p>
      </dgm:t>
    </dgm:pt>
    <dgm:pt modelId="{424A1F7F-E9DA-464C-A56D-5D85376627EF}" type="sibTrans" cxnId="{15E0C465-5284-46A2-B0BA-67E0C655271F}">
      <dgm:prSet/>
      <dgm:spPr/>
      <dgm:t>
        <a:bodyPr/>
        <a:lstStyle/>
        <a:p>
          <a:endParaRPr lang="en-US"/>
        </a:p>
      </dgm:t>
    </dgm:pt>
    <dgm:pt modelId="{E6475974-26F1-4504-91D5-3F4994D26402}">
      <dgm:prSet/>
      <dgm:spPr/>
      <dgm:t>
        <a:bodyPr/>
        <a:lstStyle/>
        <a:p>
          <a:r>
            <a:rPr lang="fr-FR"/>
            <a:t>Cas d’utilisation, activité , classes, séquence</a:t>
          </a:r>
          <a:endParaRPr lang="en-US"/>
        </a:p>
      </dgm:t>
    </dgm:pt>
    <dgm:pt modelId="{A9A8DCD5-7BEA-4807-85C1-956C503EE9F1}" type="parTrans" cxnId="{55E4D28D-6F94-4B41-BAC7-D1A48EE0A017}">
      <dgm:prSet/>
      <dgm:spPr/>
      <dgm:t>
        <a:bodyPr/>
        <a:lstStyle/>
        <a:p>
          <a:endParaRPr lang="en-US"/>
        </a:p>
      </dgm:t>
    </dgm:pt>
    <dgm:pt modelId="{27C9179C-EE75-4406-88D3-1E75AC84F320}" type="sibTrans" cxnId="{55E4D28D-6F94-4B41-BAC7-D1A48EE0A017}">
      <dgm:prSet/>
      <dgm:spPr/>
      <dgm:t>
        <a:bodyPr/>
        <a:lstStyle/>
        <a:p>
          <a:endParaRPr lang="en-US"/>
        </a:p>
      </dgm:t>
    </dgm:pt>
    <dgm:pt modelId="{A7662F0B-ED90-4D91-B6F6-C93F58B70890}" type="pres">
      <dgm:prSet presAssocID="{DDC86C38-794B-4218-88B3-F1842EDC9FB8}" presName="diagram" presStyleCnt="0">
        <dgm:presLayoutVars>
          <dgm:dir/>
          <dgm:resizeHandles val="exact"/>
        </dgm:presLayoutVars>
      </dgm:prSet>
      <dgm:spPr/>
    </dgm:pt>
    <dgm:pt modelId="{FB221083-F2B0-40C6-8153-D4D42D6A9196}" type="pres">
      <dgm:prSet presAssocID="{6F11887F-6B37-49B1-92C9-FD3BEE36DE43}" presName="node" presStyleLbl="node1" presStyleIdx="0" presStyleCnt="4">
        <dgm:presLayoutVars>
          <dgm:bulletEnabled val="1"/>
        </dgm:presLayoutVars>
      </dgm:prSet>
      <dgm:spPr/>
    </dgm:pt>
    <dgm:pt modelId="{AE44B4C4-7DE4-4B55-9694-A0EF7CEC3779}" type="pres">
      <dgm:prSet presAssocID="{1B6687C8-089B-48C9-8765-3EE5CA54CF93}" presName="sibTrans" presStyleCnt="0"/>
      <dgm:spPr/>
    </dgm:pt>
    <dgm:pt modelId="{0FC3474E-A5E8-4EB2-BC92-FA384D53CDC6}" type="pres">
      <dgm:prSet presAssocID="{FD294C06-3285-4909-8F57-AADF51BB6F8A}" presName="node" presStyleLbl="node1" presStyleIdx="1" presStyleCnt="4">
        <dgm:presLayoutVars>
          <dgm:bulletEnabled val="1"/>
        </dgm:presLayoutVars>
      </dgm:prSet>
      <dgm:spPr/>
    </dgm:pt>
    <dgm:pt modelId="{50767318-4401-4022-9119-A38E9C495642}" type="pres">
      <dgm:prSet presAssocID="{743698BF-972F-4559-A577-4318A0153F64}" presName="sibTrans" presStyleCnt="0"/>
      <dgm:spPr/>
    </dgm:pt>
    <dgm:pt modelId="{29883635-E114-4B07-8C97-33CE2898BBC6}" type="pres">
      <dgm:prSet presAssocID="{CFE6A0A8-4F5D-48EB-8A18-815B8A0F2C90}" presName="node" presStyleLbl="node1" presStyleIdx="2" presStyleCnt="4">
        <dgm:presLayoutVars>
          <dgm:bulletEnabled val="1"/>
        </dgm:presLayoutVars>
      </dgm:prSet>
      <dgm:spPr/>
    </dgm:pt>
    <dgm:pt modelId="{6B42F760-148C-45DB-B6B8-F2CDD067D5A5}" type="pres">
      <dgm:prSet presAssocID="{3D7F867C-2C3D-4891-B946-A47DBC39A32B}" presName="sibTrans" presStyleCnt="0"/>
      <dgm:spPr/>
    </dgm:pt>
    <dgm:pt modelId="{8E0EC9BB-6065-4DD1-ADBE-0D1238CF6C07}" type="pres">
      <dgm:prSet presAssocID="{60C7EFB0-BBC0-4481-BD75-DFBC19F2C2A0}" presName="node" presStyleLbl="node1" presStyleIdx="3" presStyleCnt="4">
        <dgm:presLayoutVars>
          <dgm:bulletEnabled val="1"/>
        </dgm:presLayoutVars>
      </dgm:prSet>
      <dgm:spPr/>
    </dgm:pt>
  </dgm:ptLst>
  <dgm:cxnLst>
    <dgm:cxn modelId="{B86C6F2A-BE6A-45F0-98F7-C9D11AAFE88E}" srcId="{DDC86C38-794B-4218-88B3-F1842EDC9FB8}" destId="{6F11887F-6B37-49B1-92C9-FD3BEE36DE43}" srcOrd="0" destOrd="0" parTransId="{1BC35A7C-2ED2-4DD5-9A3B-27866FFE6542}" sibTransId="{1B6687C8-089B-48C9-8765-3EE5CA54CF93}"/>
    <dgm:cxn modelId="{1C7A0A30-0532-4A36-8CC8-B15033F9228F}" type="presOf" srcId="{3871634F-B521-4215-9769-1D2EE06DF5F6}" destId="{0FC3474E-A5E8-4EB2-BC92-FA384D53CDC6}" srcOrd="0" destOrd="1" presId="urn:microsoft.com/office/officeart/2005/8/layout/default"/>
    <dgm:cxn modelId="{B57C5B3C-2A88-4178-9194-AD7AD80517A7}" srcId="{DDC86C38-794B-4218-88B3-F1842EDC9FB8}" destId="{CFE6A0A8-4F5D-48EB-8A18-815B8A0F2C90}" srcOrd="2" destOrd="0" parTransId="{D076E83E-48A9-4C29-9183-A3EA320FEC47}" sibTransId="{3D7F867C-2C3D-4891-B946-A47DBC39A32B}"/>
    <dgm:cxn modelId="{15E0C465-5284-46A2-B0BA-67E0C655271F}" srcId="{DDC86C38-794B-4218-88B3-F1842EDC9FB8}" destId="{60C7EFB0-BBC0-4481-BD75-DFBC19F2C2A0}" srcOrd="3" destOrd="0" parTransId="{5CF9B9B0-6BF8-40DE-9C05-A2EDB142183A}" sibTransId="{424A1F7F-E9DA-464C-A56D-5D85376627EF}"/>
    <dgm:cxn modelId="{E433E474-91EC-4A91-8D73-F7760AED69B4}" type="presOf" srcId="{DDC86C38-794B-4218-88B3-F1842EDC9FB8}" destId="{A7662F0B-ED90-4D91-B6F6-C93F58B70890}" srcOrd="0" destOrd="0" presId="urn:microsoft.com/office/officeart/2005/8/layout/default"/>
    <dgm:cxn modelId="{DA57C757-3077-4360-BBB5-6B4E37C4C1E0}" type="presOf" srcId="{E6475974-26F1-4504-91D5-3F4994D26402}" destId="{8E0EC9BB-6065-4DD1-ADBE-0D1238CF6C07}" srcOrd="0" destOrd="1" presId="urn:microsoft.com/office/officeart/2005/8/layout/default"/>
    <dgm:cxn modelId="{47DAF88A-F262-4432-AEA2-83458164CD26}" type="presOf" srcId="{60C7EFB0-BBC0-4481-BD75-DFBC19F2C2A0}" destId="{8E0EC9BB-6065-4DD1-ADBE-0D1238CF6C07}" srcOrd="0" destOrd="0" presId="urn:microsoft.com/office/officeart/2005/8/layout/default"/>
    <dgm:cxn modelId="{55E4D28D-6F94-4B41-BAC7-D1A48EE0A017}" srcId="{60C7EFB0-BBC0-4481-BD75-DFBC19F2C2A0}" destId="{E6475974-26F1-4504-91D5-3F4994D26402}" srcOrd="0" destOrd="0" parTransId="{A9A8DCD5-7BEA-4807-85C1-956C503EE9F1}" sibTransId="{27C9179C-EE75-4406-88D3-1E75AC84F320}"/>
    <dgm:cxn modelId="{89CE869C-A640-4D92-B4E4-C4B27EB0E276}" type="presOf" srcId="{CFE6A0A8-4F5D-48EB-8A18-815B8A0F2C90}" destId="{29883635-E114-4B07-8C97-33CE2898BBC6}" srcOrd="0" destOrd="0" presId="urn:microsoft.com/office/officeart/2005/8/layout/default"/>
    <dgm:cxn modelId="{E20AC89E-0BFC-4290-9A0B-E07680DEA7E9}" type="presOf" srcId="{BFFB0265-488B-4826-BEDB-C6EF4962E520}" destId="{29883635-E114-4B07-8C97-33CE2898BBC6}" srcOrd="0" destOrd="1" presId="urn:microsoft.com/office/officeart/2005/8/layout/default"/>
    <dgm:cxn modelId="{87C2B6A9-4E8A-4086-84C3-E75DE01D9133}" srcId="{CFE6A0A8-4F5D-48EB-8A18-815B8A0F2C90}" destId="{BFFB0265-488B-4826-BEDB-C6EF4962E520}" srcOrd="0" destOrd="0" parTransId="{3F3397E1-F9C3-4E95-9B79-921F82FBFEF1}" sibTransId="{F312EE3A-DFA1-461D-9F7D-57B9BA429733}"/>
    <dgm:cxn modelId="{2AEB10AC-A578-468C-8848-E47A65C4B5AB}" type="presOf" srcId="{77BED97F-37E1-4D0D-9057-682A959AB236}" destId="{FB221083-F2B0-40C6-8153-D4D42D6A9196}" srcOrd="0" destOrd="1" presId="urn:microsoft.com/office/officeart/2005/8/layout/default"/>
    <dgm:cxn modelId="{94C29CAC-9348-4F5F-88CA-3068981BA1A1}" srcId="{6F11887F-6B37-49B1-92C9-FD3BEE36DE43}" destId="{77BED97F-37E1-4D0D-9057-682A959AB236}" srcOrd="0" destOrd="0" parTransId="{CD52EFBE-1D0C-45A7-A497-0D69C793B6FA}" sibTransId="{1D159B79-7B89-4F03-86B8-E1458FE7C46E}"/>
    <dgm:cxn modelId="{00B0F2B6-9EF7-49CE-9342-E511F010FBCE}" type="presOf" srcId="{FD294C06-3285-4909-8F57-AADF51BB6F8A}" destId="{0FC3474E-A5E8-4EB2-BC92-FA384D53CDC6}" srcOrd="0" destOrd="0" presId="urn:microsoft.com/office/officeart/2005/8/layout/default"/>
    <dgm:cxn modelId="{A65115BB-4F2C-46FA-B770-27DCCA989D45}" type="presOf" srcId="{6F11887F-6B37-49B1-92C9-FD3BEE36DE43}" destId="{FB221083-F2B0-40C6-8153-D4D42D6A9196}" srcOrd="0" destOrd="0" presId="urn:microsoft.com/office/officeart/2005/8/layout/default"/>
    <dgm:cxn modelId="{510EFFCA-6A98-4BB3-8AA3-789955C43EBD}" srcId="{FD294C06-3285-4909-8F57-AADF51BB6F8A}" destId="{3871634F-B521-4215-9769-1D2EE06DF5F6}" srcOrd="0" destOrd="0" parTransId="{318A3CA5-BF78-4BD5-8254-4E8C95BDAA24}" sibTransId="{25F9AE26-6E0B-4003-9A20-45C85B076376}"/>
    <dgm:cxn modelId="{E98D4BF1-D3D6-4006-9E69-296EC42C850F}" srcId="{DDC86C38-794B-4218-88B3-F1842EDC9FB8}" destId="{FD294C06-3285-4909-8F57-AADF51BB6F8A}" srcOrd="1" destOrd="0" parTransId="{20351D52-B6CD-4571-BEEE-39CF596D0FC3}" sibTransId="{743698BF-972F-4559-A577-4318A0153F64}"/>
    <dgm:cxn modelId="{A1243756-429C-44BD-AC05-2C42161BC148}" type="presParOf" srcId="{A7662F0B-ED90-4D91-B6F6-C93F58B70890}" destId="{FB221083-F2B0-40C6-8153-D4D42D6A9196}" srcOrd="0" destOrd="0" presId="urn:microsoft.com/office/officeart/2005/8/layout/default"/>
    <dgm:cxn modelId="{780E81FC-6F68-4C60-99F7-3F752B674D06}" type="presParOf" srcId="{A7662F0B-ED90-4D91-B6F6-C93F58B70890}" destId="{AE44B4C4-7DE4-4B55-9694-A0EF7CEC3779}" srcOrd="1" destOrd="0" presId="urn:microsoft.com/office/officeart/2005/8/layout/default"/>
    <dgm:cxn modelId="{FE5F42CF-C12A-4648-919A-D14AF918F951}" type="presParOf" srcId="{A7662F0B-ED90-4D91-B6F6-C93F58B70890}" destId="{0FC3474E-A5E8-4EB2-BC92-FA384D53CDC6}" srcOrd="2" destOrd="0" presId="urn:microsoft.com/office/officeart/2005/8/layout/default"/>
    <dgm:cxn modelId="{91ABB1FD-C1A7-49CD-BF62-F3E3F3398CB1}" type="presParOf" srcId="{A7662F0B-ED90-4D91-B6F6-C93F58B70890}" destId="{50767318-4401-4022-9119-A38E9C495642}" srcOrd="3" destOrd="0" presId="urn:microsoft.com/office/officeart/2005/8/layout/default"/>
    <dgm:cxn modelId="{36E6F5CE-A942-45FA-8DED-286969116B72}" type="presParOf" srcId="{A7662F0B-ED90-4D91-B6F6-C93F58B70890}" destId="{29883635-E114-4B07-8C97-33CE2898BBC6}" srcOrd="4" destOrd="0" presId="urn:microsoft.com/office/officeart/2005/8/layout/default"/>
    <dgm:cxn modelId="{2DDDA083-C422-445F-9067-E07C0CEB19FA}" type="presParOf" srcId="{A7662F0B-ED90-4D91-B6F6-C93F58B70890}" destId="{6B42F760-148C-45DB-B6B8-F2CDD067D5A5}" srcOrd="5" destOrd="0" presId="urn:microsoft.com/office/officeart/2005/8/layout/default"/>
    <dgm:cxn modelId="{48F7D947-3324-4EDD-90FB-9EC43E52B340}" type="presParOf" srcId="{A7662F0B-ED90-4D91-B6F6-C93F58B70890}" destId="{8E0EC9BB-6065-4DD1-ADBE-0D1238CF6C0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5A714-C5BE-40CE-81E3-DFCFB14BB5B0}">
      <dsp:nvSpPr>
        <dsp:cNvPr id="0" name=""/>
        <dsp:cNvSpPr/>
      </dsp:nvSpPr>
      <dsp:spPr>
        <a:xfrm>
          <a:off x="0" y="301036"/>
          <a:ext cx="10515600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Le secteur de l’e-commerce évolue rapidement grâce à l’intégration de l’intelligence artificielle et des applications mobiles intelligentes.</a:t>
          </a:r>
          <a:endParaRPr lang="en-US" sz="1700" kern="1200"/>
        </a:p>
      </dsp:txBody>
      <dsp:txXfrm>
        <a:off x="33012" y="334048"/>
        <a:ext cx="10449576" cy="610236"/>
      </dsp:txXfrm>
    </dsp:sp>
    <dsp:sp modelId="{771B1B5C-C820-44B1-A59F-F8A6E34AF316}">
      <dsp:nvSpPr>
        <dsp:cNvPr id="0" name=""/>
        <dsp:cNvSpPr/>
      </dsp:nvSpPr>
      <dsp:spPr>
        <a:xfrm>
          <a:off x="0" y="1026256"/>
          <a:ext cx="10515600" cy="6762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Les plateformes modernes ne se limitent plus à la simple vente en ligne, mais offrent une expérience utilisateur personnalisée, interactive et intelligente grâce à des systèmes de recommandation et des assistants virtuels.</a:t>
          </a:r>
          <a:endParaRPr lang="en-US" sz="1700" kern="1200"/>
        </a:p>
      </dsp:txBody>
      <dsp:txXfrm>
        <a:off x="33012" y="1059268"/>
        <a:ext cx="10449576" cy="610236"/>
      </dsp:txXfrm>
    </dsp:sp>
    <dsp:sp modelId="{76A43C40-DDE3-4900-A48C-4EBA9E01862D}">
      <dsp:nvSpPr>
        <dsp:cNvPr id="0" name=""/>
        <dsp:cNvSpPr/>
      </dsp:nvSpPr>
      <dsp:spPr>
        <a:xfrm>
          <a:off x="0" y="1751476"/>
          <a:ext cx="10515600" cy="6762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Avec l’augmentation massive de l’utilisation des smartphones, le mobile devient le principal canal d’achat et d’interaction client.</a:t>
          </a:r>
          <a:endParaRPr lang="en-US" sz="1700" kern="1200" dirty="0"/>
        </a:p>
      </dsp:txBody>
      <dsp:txXfrm>
        <a:off x="33012" y="1784488"/>
        <a:ext cx="10449576" cy="610236"/>
      </dsp:txXfrm>
    </dsp:sp>
    <dsp:sp modelId="{437E7661-6818-4553-8BED-7F19BC99269A}">
      <dsp:nvSpPr>
        <dsp:cNvPr id="0" name=""/>
        <dsp:cNvSpPr/>
      </dsp:nvSpPr>
      <dsp:spPr>
        <a:xfrm>
          <a:off x="0" y="2476696"/>
          <a:ext cx="10515600" cy="6762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/>
            <a:t>Tendances clés :</a:t>
          </a:r>
          <a:endParaRPr lang="en-US" sz="1700" kern="1200"/>
        </a:p>
      </dsp:txBody>
      <dsp:txXfrm>
        <a:off x="33012" y="2509708"/>
        <a:ext cx="10449576" cy="610236"/>
      </dsp:txXfrm>
    </dsp:sp>
    <dsp:sp modelId="{2CA6A3B8-D024-4A35-8732-BBF08FD49872}">
      <dsp:nvSpPr>
        <dsp:cNvPr id="0" name=""/>
        <dsp:cNvSpPr/>
      </dsp:nvSpPr>
      <dsp:spPr>
        <a:xfrm>
          <a:off x="0" y="3152956"/>
          <a:ext cx="10515600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/>
            <a:t>Recommandations personnalisées basées sur l’IA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/>
            <a:t>Utilisation de chatbots et de systèmes de recommandation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/>
            <a:t>Recherche intelligente et sémantique de produits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/>
            <a:t>Gestion automatisée des commandes et du panier</a:t>
          </a:r>
          <a:endParaRPr lang="en-US" sz="1300" kern="1200"/>
        </a:p>
      </dsp:txBody>
      <dsp:txXfrm>
        <a:off x="0" y="3152956"/>
        <a:ext cx="10515600" cy="897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21083-F2B0-40C6-8153-D4D42D6A9196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/>
            <a:t>Besoins fonctionnels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Gestion utilisateurs, chat intelligent, Search Ai, Camera Scan, système RAG</a:t>
          </a:r>
          <a:endParaRPr lang="en-US" sz="1800" kern="1200"/>
        </a:p>
      </dsp:txBody>
      <dsp:txXfrm>
        <a:off x="1748064" y="2975"/>
        <a:ext cx="3342605" cy="2005563"/>
      </dsp:txXfrm>
    </dsp:sp>
    <dsp:sp modelId="{0FC3474E-A5E8-4EB2-BC92-FA384D53CDC6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/>
            <a:t>Besoins non-fonctionnels clés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Performance &lt; 2s, Sécurité JWT+HTTPS, Disponibilité 99.5%, Scalabilité 10k+ utilisateurs</a:t>
          </a:r>
          <a:endParaRPr lang="en-US" sz="1800" kern="1200"/>
        </a:p>
      </dsp:txBody>
      <dsp:txXfrm>
        <a:off x="5424930" y="2975"/>
        <a:ext cx="3342605" cy="2005563"/>
      </dsp:txXfrm>
    </dsp:sp>
    <dsp:sp modelId="{29883635-E114-4B07-8C97-33CE2898BBC6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/>
            <a:t>Règles de gestion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Token JWT valide 24h, difficulté adaptative des quiz, limitations (100 messages/jour)</a:t>
          </a:r>
          <a:endParaRPr lang="en-US" sz="1800" kern="1200"/>
        </a:p>
      </dsp:txBody>
      <dsp:txXfrm>
        <a:off x="1748064" y="2342799"/>
        <a:ext cx="3342605" cy="2005563"/>
      </dsp:txXfrm>
    </dsp:sp>
    <dsp:sp modelId="{8E0EC9BB-6065-4DD1-ADBE-0D1238CF6C07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/>
            <a:t>Diagrammes UML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Cas d’utilisation, activité , classes, séquence</a:t>
          </a:r>
          <a:endParaRPr lang="en-US" sz="1800" kern="1200"/>
        </a:p>
      </dsp:txBody>
      <dsp:txXfrm>
        <a:off x="5424930" y="2342799"/>
        <a:ext cx="3342605" cy="2005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20071-9C4E-4E71-9BC1-05188ECC9FA3}" type="datetimeFigureOut">
              <a:rPr lang="fr-MA" smtClean="0"/>
              <a:t>21/05/2026</a:t>
            </a:fld>
            <a:endParaRPr lang="f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7F263-1ECE-4B30-89F0-DA285AE5EB90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0714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FF9A45-4F1F-3E29-FAD0-E9990595E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E75DD5-DEBC-F159-626B-924762E3E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F9B0B2-A05B-C764-0382-CC714C6FD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7048-8E62-4E59-873F-3CCCFC9686F1}" type="datetime1">
              <a:rPr lang="fr-MA" smtClean="0"/>
              <a:t>21/05/2026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C80E8A-93C3-A49F-D29A-10972146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C1EBBD-C51D-A66E-2C3D-9F7E3272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2518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991D6-464F-7EBB-53D2-1E2A1DB9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234BFC-1F71-DD67-667C-7ACE2E372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545057-B291-2B27-E343-DB9BCFBF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093C-4F15-4BE1-BCAD-9DD155885ABA}" type="datetime1">
              <a:rPr lang="fr-MA" smtClean="0"/>
              <a:t>21/05/2026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1C34D9-2007-9AA6-F610-A6910FC0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7FA40A-2B35-60CE-EA56-9F91D6D1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0660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3F14A9-4F71-5595-5586-BF721AA3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D74FEE-8E5B-0EA9-84E8-48F2989F5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4A7486-B58D-C9D3-9C2D-7C3FE4F1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0710-AC20-4A7D-A12C-B56BFB12FEF0}" type="datetime1">
              <a:rPr lang="fr-MA" smtClean="0"/>
              <a:t>21/05/2026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ED93CF-8DA9-4B10-82D9-7DC4C6D6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6F4E1-D945-8FE0-4BB8-1271E9CF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2080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7B1DF-885E-EB2F-5578-42F6E2FD2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4866C2-0328-0A62-B021-7E75BA146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18A20-ED77-E841-F136-D3A8E3F79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F34E07-EECD-2731-F16C-BC93389F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6C7B-40D5-4BDC-AD26-CADCB70EF648}" type="datetime1">
              <a:rPr lang="fr-MA" smtClean="0"/>
              <a:t>21/05/2026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2BCD96-4C86-8013-DEAF-23D11EB51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438CDC-D5D4-9C2A-77DA-7D6DA655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0282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13A6E-F0A5-57B7-852F-0FFD2540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42427C-AF9C-5773-4819-C39CAA01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494D90-B680-F074-ACC0-AB0C763C7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78B900-84ED-A286-19B2-B74A7B02D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56F9935-464E-7E0F-7C67-7CE7E0593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63CF33D-FBF8-4683-2561-EC4B34E5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B3B9-C7BE-404E-BBF3-9A4D103FB451}" type="datetime1">
              <a:rPr lang="fr-MA" smtClean="0"/>
              <a:t>21/05/2026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92C767-1215-FD0E-AF53-6820E782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8F2575A-1FB6-08D2-30AD-2091DB42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6912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5690D-CF7F-BAF1-B911-E10715C9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4DB56EB-9E88-4163-AD88-FBA5A487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2F-A455-46C3-98FA-1FF267B9C397}" type="datetime1">
              <a:rPr lang="fr-MA" smtClean="0"/>
              <a:t>21/05/2026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9A3216C-608D-BE8A-7A41-255688EA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84B5B3-136A-048D-8A3E-9D37C1A3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6033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201AB2-AEF2-9B36-2945-50CED7C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12D7-A02F-4C74-9E59-D9EFEE92557E}" type="datetime1">
              <a:rPr lang="fr-MA" smtClean="0"/>
              <a:t>21/05/2026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C06A17-34BA-F77D-2E46-E7AA59F0A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DA2256-61B2-CE9F-F04E-1D51E4E9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2732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E4669-C620-E027-1BDB-88E38623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7D11E5-23DA-B808-8A83-C33AD1640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D780D9-1DCC-F24B-38CE-9A0445ACB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F552FE-5D73-8049-0503-BFEAFFA4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CD8A-8314-4A02-AF86-EF24AB12FB32}" type="datetime1">
              <a:rPr lang="fr-MA" smtClean="0"/>
              <a:t>21/05/2026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5C3E78-235B-977B-F00C-7F203B00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898C84-0557-2653-AB14-BF67CBDF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9145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EB397B-D316-4509-220A-56C891A4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540FF03-7C4C-C14B-68ED-38DB2A6C1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AF624B-3516-0F59-1735-FD94D2F08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31526E-FED6-3925-7DA4-11C51EF7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5ABA-3FB8-4DFA-97C3-4D4983449638}" type="datetime1">
              <a:rPr lang="fr-MA" smtClean="0"/>
              <a:t>21/05/2026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4B1B6A-B466-3FDD-757B-564964E1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3A0905-85D3-21DD-46E4-EB6D2FDA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0702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43EA90-B8ED-C059-552C-6325FE41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056768-7991-BED9-4450-7C4ADC428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0F9786-AAC5-B564-E604-18579813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A266-EA4B-415E-A7ED-8F0ACAB7D830}" type="datetime1">
              <a:rPr lang="fr-MA" smtClean="0"/>
              <a:t>21/05/2026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8676A-D13E-9418-DE24-39BD6830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07E0BA-D156-ECB1-EEB0-B5545ED8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127450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5D8AE1-30C0-1BA8-AB97-161C46838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E3A41B-F576-2B67-2300-FEF1B08BF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DB9E2B-DECB-B21E-D9C4-F18DBA7C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2901E-27DA-49BF-90D6-D7B0631D3A3E}" type="datetime1">
              <a:rPr lang="fr-MA" smtClean="0"/>
              <a:t>21/05/2026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9D7A68-6CD9-F9D4-3BC8-57B8F000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A8F56F-E74F-4925-2165-EC4C99D1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4928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8E8411-922D-5C84-BC0F-C19F794C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A52E6B-1478-0300-F917-2C504A76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0B6A33-2916-38B9-CBE4-1163D69EE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322F1-DA1E-4454-8A1D-00B3ADF02B83}" type="datetime1">
              <a:rPr lang="fr-MA" smtClean="0"/>
              <a:t>21/05/2026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F3E53C-B5A1-2063-A795-0761631B6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EE20D4-DE89-D07F-0DD5-8E0E53C52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080D5-51FC-47F5-A741-4DC41C0CE15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40510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FD9F792-3A6C-264D-9848-DD7580206B70}"/>
              </a:ext>
            </a:extLst>
          </p:cNvPr>
          <p:cNvSpPr/>
          <p:nvPr/>
        </p:nvSpPr>
        <p:spPr>
          <a:xfrm>
            <a:off x="870619" y="2902709"/>
            <a:ext cx="10406981" cy="17368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26305C-4400-47A4-2185-5140CFEBE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791583"/>
            <a:ext cx="10363200" cy="173682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Conception et </a:t>
            </a:r>
            <a:r>
              <a:rPr lang="en-US" sz="4000" b="1" dirty="0" err="1"/>
              <a:t>développement</a:t>
            </a:r>
            <a:r>
              <a:rPr lang="en-US" sz="4000" b="1" dirty="0"/>
              <a:t> </a:t>
            </a:r>
            <a:r>
              <a:rPr lang="en-US" sz="4000" b="1" dirty="0" err="1"/>
              <a:t>d’une</a:t>
            </a:r>
            <a:r>
              <a:rPr lang="en-US" sz="4000" b="1" dirty="0"/>
              <a:t> application mobile </a:t>
            </a:r>
            <a:r>
              <a:rPr lang="en-US" sz="4000" b="1" dirty="0" err="1"/>
              <a:t>intelligente</a:t>
            </a:r>
            <a:r>
              <a:rPr lang="en-US" sz="4000" b="1" dirty="0"/>
              <a:t> </a:t>
            </a:r>
            <a:r>
              <a:rPr lang="en-US" sz="4000" b="1" dirty="0" err="1"/>
              <a:t>basée</a:t>
            </a:r>
            <a:r>
              <a:rPr lang="en-US" sz="4000" b="1" dirty="0"/>
              <a:t> sur </a:t>
            </a:r>
            <a:r>
              <a:rPr lang="en-US" sz="4000" b="1" dirty="0" err="1"/>
              <a:t>l’intelligence</a:t>
            </a:r>
            <a:r>
              <a:rPr lang="en-US" sz="4000" b="1" dirty="0"/>
              <a:t> </a:t>
            </a:r>
            <a:r>
              <a:rPr lang="en-US" sz="4000" b="1" dirty="0" err="1"/>
              <a:t>artificielle</a:t>
            </a:r>
            <a:r>
              <a:rPr lang="en-US" sz="4000" b="1" dirty="0"/>
              <a:t> et la recherche </a:t>
            </a:r>
            <a:r>
              <a:rPr lang="en-US" sz="4000" b="1" dirty="0" err="1"/>
              <a:t>sémantique</a:t>
            </a:r>
            <a:endParaRPr lang="fr-MA" sz="4000" dirty="0">
              <a:latin typeface="Aptos" panose="020B00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1A7C076-DB83-6C38-19E8-7A13C247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374773"/>
            <a:ext cx="3600450" cy="78105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808A089-F43C-7F81-9CA5-E9CD2C79CE41}"/>
              </a:ext>
            </a:extLst>
          </p:cNvPr>
          <p:cNvSpPr txBox="1"/>
          <p:nvPr/>
        </p:nvSpPr>
        <p:spPr>
          <a:xfrm>
            <a:off x="6919356" y="5044896"/>
            <a:ext cx="435824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Présenté par : </a:t>
            </a: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 Aymane Eddahani</a:t>
            </a:r>
            <a:br>
              <a:rPr lang="fr-FR" sz="2400" b="1" dirty="0"/>
            </a:br>
            <a:r>
              <a:rPr lang="fr-FR" b="1" dirty="0"/>
              <a:t>Encadrant : M. Mohammed </a:t>
            </a:r>
            <a:r>
              <a:rPr lang="fr-FR" b="1" dirty="0" err="1"/>
              <a:t>Bousmah</a:t>
            </a:r>
            <a:br>
              <a:rPr lang="fr-FR" sz="2400" b="1" dirty="0"/>
            </a:br>
            <a:r>
              <a:rPr lang="fr-FR" b="1" dirty="0"/>
              <a:t>Filière : 4ème année Génie Informatique</a:t>
            </a:r>
            <a:br>
              <a:rPr lang="fr-FR" sz="2400" b="1" dirty="0"/>
            </a:br>
            <a:r>
              <a:rPr lang="fr-FR" b="1" dirty="0"/>
              <a:t>Année académique : 2025-2026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DBB3B3B-B6A9-B508-6C29-F7E351CB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80D5-51FC-47F5-A741-4DC41C0CE154}" type="slidenum">
              <a:rPr lang="fr-MA" smtClean="0"/>
              <a:t>1</a:t>
            </a:fld>
            <a:endParaRPr lang="fr-M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51D6AD-58D0-E7F4-7AAF-4343D02352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696" y="1118148"/>
            <a:ext cx="1781659" cy="1781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617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594F5C-B87A-4192-8864-E252F716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 b="1"/>
              <a:t>PLAN</a:t>
            </a:r>
            <a:endParaRPr lang="fr-MA" sz="4800" b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F1A4E9-D3BC-BF27-03EF-C7704749B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numCol="1"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400"/>
              <a:t>INTRODUCTION GÉNÉRALE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/>
              <a:t>CHAPITRE 1 : CONTEXTE GÉNÉRAL DU PROJET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/>
              <a:t>CHAPITRE 2 : ANALYSE ET CONCEPTION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/>
              <a:t>CHAPITRE 3 : ÉTUDE TECHNIQUE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/>
              <a:t>CHAPITRE 4 : MISE EN ŒUVRE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/>
              <a:t>CONCLUSION GÉNÉRALE ET PERSPECTIVES</a:t>
            </a:r>
            <a:endParaRPr lang="fr-MA" sz="2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984C84-8D13-532E-337F-613F9512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480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600B33-3E3B-DD1E-78C7-2D1D9608D2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413" b="145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0F80352-5596-5BBD-3D70-2B6EFA89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MA" b="1"/>
              <a:t>1. Contexte du projet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DAF0D1-6C5F-6F97-FAA3-BBA1AEF3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3</a:t>
            </a:fld>
            <a:endParaRPr lang="fr-MA"/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526E1D4A-8062-C5D8-7B52-4D3492101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36421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734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F55561-A671-F18F-A46F-11B0F724F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MA" sz="4800" b="1"/>
              <a:t>2. Problématique</a:t>
            </a:r>
            <a:endParaRPr lang="fr-MA" sz="48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6C0FDE-6E4B-F5DB-4A66-57400A9C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300" b="1" dirty="0"/>
              <a:t>Constat : </a:t>
            </a:r>
            <a:r>
              <a:rPr lang="fr-FR" sz="1300" dirty="0"/>
              <a:t>Les solutions actuelles souffrent de plusieurs limites :</a:t>
            </a:r>
          </a:p>
          <a:p>
            <a:pPr marL="0" indent="0">
              <a:buNone/>
            </a:pPr>
            <a:r>
              <a:rPr lang="fr-FR" sz="1300" dirty="0"/>
              <a:t>Manque de personnalisation (parcours rigides)</a:t>
            </a:r>
          </a:p>
          <a:p>
            <a:pPr marL="0" indent="0">
              <a:buNone/>
            </a:pPr>
            <a:r>
              <a:rPr lang="fr-FR" sz="1300" dirty="0"/>
              <a:t>Interfaces complexes</a:t>
            </a:r>
          </a:p>
          <a:p>
            <a:pPr marL="0" indent="0">
              <a:buNone/>
            </a:pPr>
            <a:r>
              <a:rPr lang="fr-FR" sz="1300" dirty="0"/>
              <a:t>Peu d’interactivité</a:t>
            </a:r>
          </a:p>
          <a:p>
            <a:pPr marL="0" indent="0">
              <a:buNone/>
            </a:pPr>
            <a:r>
              <a:rPr lang="fr-FR" sz="1300" dirty="0"/>
              <a:t>Absence d’assistance intelligente en temps réel</a:t>
            </a:r>
          </a:p>
          <a:p>
            <a:pPr marL="0" indent="0">
              <a:buNone/>
            </a:pPr>
            <a:r>
              <a:rPr lang="fr-FR" sz="1300" dirty="0"/>
              <a:t>Coûts élevés</a:t>
            </a:r>
          </a:p>
          <a:p>
            <a:pPr marL="0" indent="0">
              <a:buNone/>
            </a:pPr>
            <a:r>
              <a:rPr lang="fr-FR" sz="1300" dirty="0"/>
              <a:t>Difficulté à passer à l’échelle (scalabilité)</a:t>
            </a:r>
          </a:p>
          <a:p>
            <a:pPr marL="0" indent="0">
              <a:buNone/>
            </a:pPr>
            <a:r>
              <a:rPr lang="fr-FR" sz="1300" b="1" dirty="0"/>
              <a:t>Question principale :</a:t>
            </a:r>
          </a:p>
          <a:p>
            <a:pPr marL="0" indent="0">
              <a:buNone/>
            </a:pPr>
            <a:r>
              <a:rPr lang="fr-FR" sz="1300" dirty="0"/>
              <a:t>Comment concevoir une application mobile intelligente, personnalisée,</a:t>
            </a:r>
          </a:p>
          <a:p>
            <a:pPr marL="0" indent="0">
              <a:buNone/>
            </a:pPr>
            <a:r>
              <a:rPr lang="fr-FR" sz="1300" dirty="0"/>
              <a:t>interactive et scalable en intégrant des technologies d’IA modernes ?</a:t>
            </a:r>
          </a:p>
          <a:p>
            <a:pPr marL="0" indent="0">
              <a:buNone/>
            </a:pPr>
            <a:endParaRPr lang="fr-MA" sz="13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D0FF0B-B955-9D13-F9DD-57805E0F4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3269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ED138-61A3-831B-37BA-1DC79F9AB4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777F919-0ECF-0ED8-6779-7D40B108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MA" b="1"/>
              <a:t>Analyse et conception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F5927E-8690-1E4F-FBE8-8D497C8D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5</a:t>
            </a:fld>
            <a:endParaRPr lang="fr-MA"/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616C6C01-DBD1-2B44-8687-D152574B5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71997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528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D66343-46D5-2DF1-0EB0-66C06E19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Étude technique (architecture)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8328EAA-CB95-D36F-A0B4-2A70E3768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752" y="666728"/>
            <a:ext cx="5315481" cy="5465791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C30E33-6443-A90E-8FC1-5AE8F03F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0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B25D8C-571F-9C53-B998-21AD86E2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Diagrammes UML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AF4AB9-7921-3B1F-3212-87B9E756D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2492" y="1842623"/>
            <a:ext cx="5536001" cy="3114000"/>
          </a:xfrm>
          <a:prstGeom prst="rect">
            <a:avLst/>
          </a:prstGeom>
          <a:noFill/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6494B3-0404-0B23-D553-EB7914E1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48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A6539-460B-20B5-8AEA-4FD45C48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741A1D-8F44-B1E2-ED35-61491B6F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 de Classes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346E2-0F64-60AB-9BDE-63A1CC05F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2492" y="1039903"/>
            <a:ext cx="5536001" cy="4719440"/>
          </a:xfrm>
          <a:prstGeom prst="rect">
            <a:avLst/>
          </a:prstGeom>
          <a:noFill/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C8736D-D35F-DF68-BDAA-4C509B68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822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65224-58F4-08EC-D679-DBC5B391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A86935-254C-CDD5-6E9D-849F8D69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 de Séquence : Search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3EA2A-DBEF-7E46-C35B-E4C5691F0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2492" y="1718063"/>
            <a:ext cx="5536001" cy="3363120"/>
          </a:xfrm>
          <a:prstGeom prst="rect">
            <a:avLst/>
          </a:prstGeom>
          <a:noFill/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F785C1-36FB-1DEF-E87F-78DF3A2D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922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00D608-99A4-E8C0-1B13-8DEAAD7C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3686174" cy="1322888"/>
          </a:xfrm>
        </p:spPr>
        <p:txBody>
          <a:bodyPr>
            <a:normAutofit/>
          </a:bodyPr>
          <a:lstStyle/>
          <a:p>
            <a:r>
              <a:rPr lang="fr-FR" sz="2400" b="1"/>
              <a:t>Mise en œuvre (interfaces)</a:t>
            </a:r>
            <a:br>
              <a:rPr lang="fr-FR" sz="2400" b="1"/>
            </a:br>
            <a:r>
              <a:rPr lang="fr-FR" sz="2400" b="1"/>
              <a:t>Fonctionnalités principales </a:t>
            </a:r>
            <a:endParaRPr lang="fr-MA" sz="2400" b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9A5114-64EB-B588-2F5B-CD495217D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7" y="2194101"/>
            <a:ext cx="3543298" cy="3973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/>
              <a:t>Authentification</a:t>
            </a:r>
          </a:p>
          <a:p>
            <a:r>
              <a:rPr lang="fr-FR" sz="2000"/>
              <a:t>Écran de connexion (email/mot de passe)</a:t>
            </a:r>
          </a:p>
          <a:p>
            <a:r>
              <a:rPr lang="fr-FR" sz="2000"/>
              <a:t>Inscription avec validation côté client</a:t>
            </a:r>
          </a:p>
          <a:p>
            <a:r>
              <a:rPr lang="fr-FR" sz="2000"/>
              <a:t>Gestion des erreurs</a:t>
            </a:r>
            <a:endParaRPr lang="fr-MA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BCF4B-584E-2A35-1D7D-302E047F4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000" y="1073835"/>
            <a:ext cx="2308062" cy="4710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5616DF-E8B6-4AC8-F089-89552EF1D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211" y="1073835"/>
            <a:ext cx="2472922" cy="4710330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C3DE5C5-5EFC-23D2-8752-DA35B8DF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z="1000"/>
              <a:pPr>
                <a:spcAft>
                  <a:spcPts val="600"/>
                </a:spcAft>
              </a:pPr>
              <a:t>10</a:t>
            </a:fld>
            <a:endParaRPr lang="fr-MA" sz="1000"/>
          </a:p>
        </p:txBody>
      </p:sp>
    </p:spTree>
    <p:extLst>
      <p:ext uri="{BB962C8B-B14F-4D97-AF65-F5344CB8AC3E}">
        <p14:creationId xmlns:p14="http://schemas.microsoft.com/office/powerpoint/2010/main" val="417247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980465-0AB4-0122-75A5-D7E02D99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 b="1"/>
              <a:t>Tableau de bord (Dashboard)</a:t>
            </a:r>
            <a:endParaRPr lang="fr-MA" sz="4800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97AC28-B60C-5825-34CA-A758BE71A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fr-MA" sz="2000"/>
              <a:t>Affichage du profil utilisateur</a:t>
            </a:r>
            <a:endParaRPr lang="en-US" sz="2000"/>
          </a:p>
          <a:p>
            <a:pPr lvl="0"/>
            <a:r>
              <a:rPr lang="fr-MA" sz="2000"/>
              <a:t>Navigation vers Chat, Home, Cart</a:t>
            </a:r>
            <a:endParaRPr lang="en-US" sz="2000"/>
          </a:p>
          <a:p>
            <a:pPr lvl="0"/>
            <a:r>
              <a:rPr lang="fr-MA" sz="2000"/>
              <a:t>Formulaire de produits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FD2FEC-99D7-CAE7-9C1C-4AAB059A0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038" y="2484255"/>
            <a:ext cx="1829265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F6B106-81FC-EEB0-B0B8-144825DC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11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8522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703C29A-3472-0027-B0A2-C9B05CAC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MA" sz="4800" b="1"/>
              <a:t>Chatbot intelligent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E144DF-7BA7-D3C4-8A07-A9EAFD36D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/>
              <a:t>Historique des conversations</a:t>
            </a:r>
          </a:p>
          <a:p>
            <a:r>
              <a:rPr lang="fr-FR" sz="2000"/>
              <a:t>Réponses en temps réel de l’IA (modèle local)</a:t>
            </a:r>
          </a:p>
          <a:p>
            <a:r>
              <a:rPr lang="fr-FR" sz="2000"/>
              <a:t>Indicateur de saisie</a:t>
            </a:r>
            <a:endParaRPr lang="fr-MA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63E165-4A0B-7D96-AA2B-37EF2B71A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752" y="2484255"/>
            <a:ext cx="1847836" cy="371424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8C9B285-95F3-845A-9C86-F81E6707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/>
              <a:pPr>
                <a:spcAft>
                  <a:spcPts val="600"/>
                </a:spcAft>
              </a:pPr>
              <a:t>12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57404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939DAF-AFF9-8D4A-0B24-BD728C7A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MA" sz="4800" b="1"/>
              <a:t>Quiz adaptatif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C2F1B4-9DDF-263F-8770-07F35BCF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/>
              <a:t>Questions qui évoluent selon les réponses précédentes</a:t>
            </a:r>
          </a:p>
          <a:p>
            <a:r>
              <a:rPr lang="fr-FR" sz="2000"/>
              <a:t>Feedback immédiat</a:t>
            </a:r>
          </a:p>
          <a:p>
            <a:r>
              <a:rPr lang="fr-FR" sz="2000"/>
              <a:t>Score final et recommandations</a:t>
            </a:r>
            <a:endParaRPr lang="fr-MA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521B58-ECFA-4D6C-80F5-71AF4B215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467" y="2484255"/>
            <a:ext cx="1866407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E37E2DD-2BBA-4A4E-8419-73B5D56E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13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98179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F0BF8-A6FB-C64F-DB30-0FC36F4D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44D246-8478-CAF4-D666-8D8AB3FA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MA" sz="4800" b="1"/>
              <a:t>GPS Localisation &amp; MAPS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C3578-4721-031D-9939-9D76CC2D5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fr-MA" sz="2000"/>
              <a:t>Affichage de la position actuelle de l’utilisateur en temps réel</a:t>
            </a:r>
          </a:p>
          <a:p>
            <a:pPr lvl="0"/>
            <a:r>
              <a:rPr lang="fr-MA" sz="2000"/>
              <a:t>Géolocalisation précise via GPS</a:t>
            </a:r>
          </a:p>
          <a:p>
            <a:pPr lvl="0"/>
            <a:r>
              <a:rPr lang="fr-MA" sz="2000"/>
              <a:t>Suivi des déplacements sur la carte</a:t>
            </a:r>
          </a:p>
          <a:p>
            <a:pPr lvl="0"/>
            <a:r>
              <a:rPr lang="fr-MA" sz="2000"/>
              <a:t>Recherche de lieux et d’adresses</a:t>
            </a:r>
          </a:p>
          <a:p>
            <a:endParaRPr lang="fr-MA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506C1C-7FB3-2C32-7E43-E7F8B426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752" y="2484255"/>
            <a:ext cx="1847836" cy="37142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0F534B3-6AAE-CDD9-E114-EAED2CD8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14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36317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1110F3-841F-FA2E-1E27-DF2D3C12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 b="1"/>
              <a:t>Conclusion : Résultats &amp; métriques</a:t>
            </a:r>
            <a:endParaRPr lang="fr-MA" sz="4800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8C59D8-FA72-5050-6C10-35804EADB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2000" b="1"/>
              <a:t>Accomplissements</a:t>
            </a:r>
            <a:endParaRPr lang="fr-FR" sz="2000"/>
          </a:p>
          <a:p>
            <a:r>
              <a:rPr lang="fr-FR" sz="2000"/>
              <a:t>App Android complète, backend scalable, IA intégrée (chatbot, quiz adaptatif, RAG), pipeline DevOps</a:t>
            </a:r>
          </a:p>
          <a:p>
            <a:pPr marL="0" indent="0">
              <a:buNone/>
            </a:pPr>
            <a:r>
              <a:rPr lang="fr-FR" sz="2000" b="1"/>
              <a:t>Métriques de succès</a:t>
            </a:r>
            <a:endParaRPr lang="fr-FR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DE9DD7-1AC7-7C3C-80B1-0763288E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fr-MA" smtClean="0"/>
              <a:pPr>
                <a:spcAft>
                  <a:spcPts val="600"/>
                </a:spcAft>
              </a:pPr>
              <a:t>15</a:t>
            </a:fld>
            <a:endParaRPr lang="fr-MA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6961807-912E-8F2A-8BAA-411B1903C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509431"/>
              </p:ext>
            </p:extLst>
          </p:nvPr>
        </p:nvGraphicFramePr>
        <p:xfrm>
          <a:off x="5911532" y="2614520"/>
          <a:ext cx="5150278" cy="3453718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  <a:tableStyleId>{C083E6E3-FA7D-4D7B-A595-EF9225AFEA82}</a:tableStyleId>
              </a:tblPr>
              <a:tblGrid>
                <a:gridCol w="2388441">
                  <a:extLst>
                    <a:ext uri="{9D8B030D-6E8A-4147-A177-3AD203B41FA5}">
                      <a16:colId xmlns:a16="http://schemas.microsoft.com/office/drawing/2014/main" val="1939114531"/>
                    </a:ext>
                  </a:extLst>
                </a:gridCol>
                <a:gridCol w="1441320">
                  <a:extLst>
                    <a:ext uri="{9D8B030D-6E8A-4147-A177-3AD203B41FA5}">
                      <a16:colId xmlns:a16="http://schemas.microsoft.com/office/drawing/2014/main" val="2588066531"/>
                    </a:ext>
                  </a:extLst>
                </a:gridCol>
                <a:gridCol w="1320517">
                  <a:extLst>
                    <a:ext uri="{9D8B030D-6E8A-4147-A177-3AD203B41FA5}">
                      <a16:colId xmlns:a16="http://schemas.microsoft.com/office/drawing/2014/main" val="302874792"/>
                    </a:ext>
                  </a:extLst>
                </a:gridCol>
              </a:tblGrid>
              <a:tr h="588950">
                <a:tc>
                  <a:txBody>
                    <a:bodyPr/>
                    <a:lstStyle/>
                    <a:p>
                      <a:r>
                        <a:rPr lang="fr-FR" sz="1400" b="1" cap="all" spc="60">
                          <a:solidFill>
                            <a:schemeClr val="tx1"/>
                          </a:solidFill>
                        </a:rPr>
                        <a:t>Métrique</a:t>
                      </a:r>
                      <a:endParaRPr lang="fr-MA" sz="14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163597" marR="163597" marT="163597" marB="1635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cap="all" spc="60">
                          <a:solidFill>
                            <a:schemeClr val="tx1"/>
                          </a:solidFill>
                        </a:rPr>
                        <a:t>Objectif</a:t>
                      </a:r>
                      <a:endParaRPr lang="fr-MA" sz="14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163597" marR="163597" marT="163597" marB="1635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cap="all" spc="60">
                          <a:solidFill>
                            <a:schemeClr val="tx1"/>
                          </a:solidFill>
                        </a:rPr>
                        <a:t>Réalisé</a:t>
                      </a:r>
                      <a:endParaRPr lang="fr-MA" sz="14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163597" marR="163597" marT="163597" marB="1635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528105"/>
                  </a:ext>
                </a:extLst>
              </a:tr>
              <a:tr h="788902"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Temps de réponse API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&lt; 2s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1,2s </a:t>
                      </a: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33619"/>
                  </a:ext>
                </a:extLst>
              </a:tr>
              <a:tr h="788902"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Disponibilité (uptime)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99,5%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99,7% </a:t>
                      </a: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467552"/>
                  </a:ext>
                </a:extLst>
              </a:tr>
              <a:tr h="788902"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Couverture des tests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&gt; 80%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85% </a:t>
                      </a: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47203"/>
                  </a:ext>
                </a:extLst>
              </a:tr>
              <a:tr h="498062"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RAM mobile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&lt; 150 Mo</a:t>
                      </a:r>
                      <a:endParaRPr lang="fr-M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120 Mo </a:t>
                      </a:r>
                    </a:p>
                  </a:txBody>
                  <a:tcPr marL="109065" marR="109065" marT="54532" marB="109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24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274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4BA0BD-33DB-BF06-09E2-22EA75D7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Perspectives &amp; améliorations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5E1F3CD-3190-5176-6723-3B20E5D8BD13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Limites actuelles</a:t>
            </a: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IA locale uniquement, pas de multilangue, fonctionnalités sociales limitées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Améliorations futures</a:t>
            </a: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Court terme (1-3 mois)</a:t>
            </a:r>
            <a:r>
              <a:rPr lang="en-US" sz="2200"/>
              <a:t> : amélioration quiz, multilangue, notifications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Moyen terme (3-6 mois)</a:t>
            </a:r>
            <a:r>
              <a:rPr lang="en-US" sz="2200"/>
              <a:t> : IA cloud (OpenAI), gamification, vidéo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Long terme (6-12 mois)</a:t>
            </a:r>
            <a:r>
              <a:rPr lang="en-US" sz="2200"/>
              <a:t> : iOS/Web, certifications, marketplace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Modèle commercial</a:t>
            </a:r>
            <a:r>
              <a:rPr lang="en-US" sz="2200"/>
              <a:t> : Freemium + B2B (écoles) + B2C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A749E9F-4833-BB8E-FCCD-44398F8C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7080D5-51FC-47F5-A741-4DC41C0CE154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2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61CC8E-1F20-AFA9-D8A5-101E3A85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0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Merci pour votre attention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A2F399-C621-BB03-5E33-25785FA4A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84689" y="4887261"/>
            <a:ext cx="1669112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17080D5-51FC-47F5-A741-4DC41C0CE154}" type="slidenum">
              <a:rPr lang="en-U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US" sz="6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14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584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Thème Office</vt:lpstr>
      <vt:lpstr>Conception et développement d’une application mobile intelligente basée sur l’intelligence artificielle et la recherche sémantique</vt:lpstr>
      <vt:lpstr>PLAN</vt:lpstr>
      <vt:lpstr>1. Contexte du projet</vt:lpstr>
      <vt:lpstr>2. Problématique</vt:lpstr>
      <vt:lpstr>Analyse et conception</vt:lpstr>
      <vt:lpstr>Étude technique (architecture)</vt:lpstr>
      <vt:lpstr>Diagrammes UML </vt:lpstr>
      <vt:lpstr>Diagramme de Classes</vt:lpstr>
      <vt:lpstr>Diagramme de Séquence : Search</vt:lpstr>
      <vt:lpstr>Mise en œuvre (interfaces) Fonctionnalités principales </vt:lpstr>
      <vt:lpstr>Tableau de bord (Dashboard)</vt:lpstr>
      <vt:lpstr>Chatbot intelligent</vt:lpstr>
      <vt:lpstr>Quiz adaptatif</vt:lpstr>
      <vt:lpstr>GPS Localisation &amp; MAPS</vt:lpstr>
      <vt:lpstr>Conclusion : Résultats &amp; métriques</vt:lpstr>
      <vt:lpstr>Perspectives &amp; améliorations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Brahim</dc:creator>
  <cp:lastModifiedBy>Aymane Eddahani</cp:lastModifiedBy>
  <cp:revision>6</cp:revision>
  <dcterms:created xsi:type="dcterms:W3CDTF">2026-05-13T21:23:01Z</dcterms:created>
  <dcterms:modified xsi:type="dcterms:W3CDTF">2026-05-21T06:56:25Z</dcterms:modified>
</cp:coreProperties>
</file>